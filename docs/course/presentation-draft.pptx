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f48b927edc4d25" /><Relationship Type="http://schemas.openxmlformats.org/officeDocument/2006/relationships/extended-properties" Target="/docProps/app.xml" Id="Rbc6ede78e3cf4ec4" /><Relationship Type="http://schemas.openxmlformats.org/officeDocument/2006/relationships/officeDocument" Target="/ppt/presentation.xml" Id="R959e6192daf041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d26c39160e4f9e"/>
  </p:sldMasterIdLst>
  <p:notesMasterIdLst>
    <p:notesMasterId xmlns:r="http://schemas.openxmlformats.org/officeDocument/2006/relationships" r:id="R38a7cc44a7bf4de5"/>
  </p:notesMasterIdLst>
  <p:sldIdLst>
    <p:sldId xmlns:r="http://schemas.openxmlformats.org/officeDocument/2006/relationships" id="256" r:id="R3c1e34b959ed413e"/>
    <p:sldId xmlns:r="http://schemas.openxmlformats.org/officeDocument/2006/relationships" id="257" r:id="Rb05533f55e944556"/>
    <p:sldId xmlns:r="http://schemas.openxmlformats.org/officeDocument/2006/relationships" id="258" r:id="R6bb3122e81f04ac9"/>
    <p:sldId xmlns:r="http://schemas.openxmlformats.org/officeDocument/2006/relationships" id="259" r:id="R7712d636b22e488d"/>
    <p:sldId xmlns:r="http://schemas.openxmlformats.org/officeDocument/2006/relationships" id="260" r:id="R041f5481af524d9e"/>
    <p:sldId xmlns:r="http://schemas.openxmlformats.org/officeDocument/2006/relationships" id="261" r:id="R52273fb6d05c40a1"/>
    <p:sldId xmlns:r="http://schemas.openxmlformats.org/officeDocument/2006/relationships" id="262" r:id="Re70264feb7544fc7"/>
    <p:sldId xmlns:r="http://schemas.openxmlformats.org/officeDocument/2006/relationships" id="263" r:id="Ra61059b39d3b49ba"/>
    <p:sldId xmlns:r="http://schemas.openxmlformats.org/officeDocument/2006/relationships" id="264" r:id="Rf6641f2eac784240"/>
    <p:sldId xmlns:r="http://schemas.openxmlformats.org/officeDocument/2006/relationships" id="265" r:id="R8b30f04b02dc4721"/>
    <p:sldId xmlns:r="http://schemas.openxmlformats.org/officeDocument/2006/relationships" id="266" r:id="R5aa27479eb3149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00f92275dd4e4e" /><Relationship Type="http://schemas.openxmlformats.org/officeDocument/2006/relationships/slideMaster" Target="/ppt/slideMasters/slideMaster1.xml" Id="Rded26c39160e4f9e" /><Relationship Type="http://schemas.openxmlformats.org/officeDocument/2006/relationships/notesMaster" Target="/ppt/notesMasters/notesMaster1.xml" Id="R38a7cc44a7bf4de5" /><Relationship Type="http://schemas.openxmlformats.org/officeDocument/2006/relationships/presProps" Target="/ppt/presProps.xml" Id="R46aa7854caf6491c" /><Relationship Type="http://schemas.openxmlformats.org/officeDocument/2006/relationships/tableStyles" Target="/ppt/tableStyles.xml" Id="Rf188f773e1734baa" /><Relationship Type="http://schemas.openxmlformats.org/officeDocument/2006/relationships/slide" Target="/ppt/slides/slide1.xml" Id="R3c1e34b959ed413e" /><Relationship Type="http://schemas.openxmlformats.org/officeDocument/2006/relationships/slide" Target="/ppt/slides/slide2.xml" Id="Rb05533f55e944556" /><Relationship Type="http://schemas.openxmlformats.org/officeDocument/2006/relationships/slide" Target="/ppt/slides/slide3.xml" Id="R6bb3122e81f04ac9" /><Relationship Type="http://schemas.openxmlformats.org/officeDocument/2006/relationships/slide" Target="/ppt/slides/slide4.xml" Id="R7712d636b22e488d" /><Relationship Type="http://schemas.openxmlformats.org/officeDocument/2006/relationships/slide" Target="/ppt/slides/slide5.xml" Id="R041f5481af524d9e" /><Relationship Type="http://schemas.openxmlformats.org/officeDocument/2006/relationships/slide" Target="/ppt/slides/slide6.xml" Id="R52273fb6d05c40a1" /><Relationship Type="http://schemas.openxmlformats.org/officeDocument/2006/relationships/slide" Target="/ppt/slides/slide7.xml" Id="Re70264feb7544fc7" /><Relationship Type="http://schemas.openxmlformats.org/officeDocument/2006/relationships/slide" Target="/ppt/slides/slide8.xml" Id="Ra61059b39d3b49ba" /><Relationship Type="http://schemas.openxmlformats.org/officeDocument/2006/relationships/slide" Target="/ppt/slides/slide9.xml" Id="Rf6641f2eac784240" /><Relationship Type="http://schemas.openxmlformats.org/officeDocument/2006/relationships/slide" Target="/ppt/slides/slide10.xml" Id="R8b30f04b02dc4721" /><Relationship Type="http://schemas.openxmlformats.org/officeDocument/2006/relationships/slide" Target="/ppt/slides/slide11.xml" Id="R5aa27479eb3149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d9fad079a14a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a912d405544eae" /><Relationship Type="http://schemas.openxmlformats.org/officeDocument/2006/relationships/notesMaster" Target="/ppt/notesMasters/notesMaster1.xml" Id="Rf9b092a721ff48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e07438c7d84679" /><Relationship Type="http://schemas.openxmlformats.org/officeDocument/2006/relationships/notesMaster" Target="/ppt/notesMasters/notesMaster1.xml" Id="R36c49c8b40fa42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64fa4aacdc435a" /><Relationship Type="http://schemas.openxmlformats.org/officeDocument/2006/relationships/notesMaster" Target="/ppt/notesMasters/notesMaster1.xml" Id="R5daadb58521e40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dc5c4e33a649b3" /><Relationship Type="http://schemas.openxmlformats.org/officeDocument/2006/relationships/notesMaster" Target="/ppt/notesMasters/notesMaster1.xml" Id="Rbf3d30ada3c94c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f8fd363c294d73" /><Relationship Type="http://schemas.openxmlformats.org/officeDocument/2006/relationships/notesMaster" Target="/ppt/notesMasters/notesMaster1.xml" Id="R551af96ad0de4c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b27fb088fa49c7" /><Relationship Type="http://schemas.openxmlformats.org/officeDocument/2006/relationships/notesMaster" Target="/ppt/notesMasters/notesMaster1.xml" Id="Rbdd52acab13446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e578911253404a" /><Relationship Type="http://schemas.openxmlformats.org/officeDocument/2006/relationships/notesMaster" Target="/ppt/notesMasters/notesMaster1.xml" Id="R481ed4a3f45d46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1339de0c10437e" /><Relationship Type="http://schemas.openxmlformats.org/officeDocument/2006/relationships/notesMaster" Target="/ppt/notesMasters/notesMaster1.xml" Id="Rbfab3e9c131845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36313c61544b8e" /><Relationship Type="http://schemas.openxmlformats.org/officeDocument/2006/relationships/notesMaster" Target="/ppt/notesMasters/notesMaster1.xml" Id="R3788e0ce8e3b47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011055cdab4cc7" /><Relationship Type="http://schemas.openxmlformats.org/officeDocument/2006/relationships/notesMaster" Target="/ppt/notesMasters/notesMaster1.xml" Id="R1e0cc5ab755a4c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df72aa33ec414d" /><Relationship Type="http://schemas.openxmlformats.org/officeDocument/2006/relationships/notesMaster" Target="/ppt/notesMasters/notesMaster1.xml" Id="Rd4eacb923f0947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正式汇报第 1 页，闫灿宇，20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我们围绕 Google Play 应用信息，完成了一个能选择清洗方案并调用工具执行的数据质量智能体，再用聚类观察应用画像。今天重点说明系统做了什么、实验发现了什么，以及哪些结论还不能下。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证据来源：Data-Mining-Group-Project/README.md；课程要求.docx。数据来源：Lavanya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正式汇报第 2 页，周静雯，55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数据来自 Kaggle 的 Google Play 应用主表，共一万零八百四十一条、十三个字段，满足课程规模要求。一行是一条采集记录，不能默认是一款唯一应用。我们发现一千四百七十四条评分缺失、四百八十三条完全重复的多余记录、一条多字段错位，以及大小单位、安装量和价格格式问题。大小随设备变化表示未知状态，不能填成零。这份数据是历史快照，我们只做表内分析，不解释当前市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证据来源：Data-Mining-Group-Project/data/数据来源说明.txt；results/final/quality_before.json。数据来源：Lavanya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正式汇报第 3 页，戴想然，60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流程由 Python 先生成质量统计，模型读取统计和少量样例，选择去重、评分和大小三项策略，再交给本地程序校验并执行。共同安全规则由程序固定，包括单位解析、隔离错位记录和保留原值。模型不生成清洗代码，也不计算聚类。主实验真实调用 DeepSeek 一次，每次运行采用一次规划、执行和验证；另有三次稳定性补充调用。接口保留 JSON 错误反馈重试能力，但本次没有触发，也还没有清洗后再让模型反复改方案的循环。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证据来源：Data-Mining-Group-Project/src/agent.py；src/pipeline.py；results/final/agent_status.json。数据来源：Lavanya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正式汇报第 4 页，戴想然，50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最低必要组只做能保证基本计算的处理，保留重复，缺评分或大小的记录不参与聚类。固定规则组去重，再用全局中位数补评分和大小。DeepSeek 本次选择去重，不补评分，大小按同类别中位数填补。理由是尽量避免人为制造评分信号，同时保留更多大小未知记录。类别填补至少需要二十个有效观测，否则回退全局。这里的 drop 只是排除聚类，记录仍留在清洗档案中。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证据来源：Data-Mining-Group-Project/results/final/agent_status.json；src/quality.py。数据来源：Lavanya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正式汇报第 5 页，戴想然，35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聚类使用评分、评论数、大小、安装量下界和价格五项特征。除评分外先取 log1p，再使用共同完整数据拟合的同一个标准化器，避免量纲主导距离。每组试二到六类，用固定抽样的轮廓系数选类数，最后均为三类。另在共同记录上固定四类做一致性检查。这两个实验的样本和用途不同，后面会分别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证据来源：Data-Mining-Group-Project/src/clustering.py；results/final/run_manifest.json。数据来源：Lavanya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正式汇报第 6 页，周静雯，65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组进入聚类的记录分别是七千七百二十九、一万零三百五十七和八千八百九十二。智能体相对最低必要处理净增加一千一百六十三条，但仍比固定规则少一千四百六十五条，因为它没有填补评分。固定规则的轮廓系数最高，为零点四一七八，智能体为零点三六六五。三组样本不同，不能按这个表直接判定智能体更优或更差。填补还可能改变分布，因此更好看的聚类分数并不代表更准确地恢复了真实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证据来源：Data-Mining-Group-Project/results/final/comparison.csv。数据来源：Lavanya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正式汇报第 7 页，周静雯，60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在七千四百二十四条共同完整记录上，三组输入特征完全一样，固定四类后 ARI 等于一。这主要说明共有记录处理一致，没有检验缺失值填补质量。智能体组自己的三类画像，则分别呈现评论和安装规模较大、规模较小、付费特征较突出的记录。表中都是中位数，安装量还是下界。我们将它们作为历史记录画像，不能推出应用为什么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证据来源：Data-Mining-Group-Project/results/final/common_group_ari.csv；agent/cluster_profiles.csv。数据来源：Lavanya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正式汇报第 8 页，戴想然，35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已完成十二项人工复核，覆盖四类问题及三组处理，均判断合理，但这不是全表正确率。另外追加三次真实模型调用，去重和评分策略都一致，大小策略却两次选择排除、一次选择类别中位数，导致入模记录和类数变化。因此部分决策稳定，完整方案仍有波动。补充第三次还出现理由与策略矛盾，说明 JSON 合法不代表解释可靠。填补真值误差仍没有被这组实验验证。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证据来源：Data-Mining-Group-Project/results/final/人工抽查12项_三组_赵思嘉_20261027.csv；补充实验_智能体稳定性_后三次_1027.zip；GitHub commit f828da93。数据来源：Lavanya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正式汇报第 9 页，闫灿宇，40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贡献说明沿用四人分工：闫灿宇负责范围和审阅，周静雯负责数据说明和材料汇总，戴想然负责技术实现与实验，赵思嘉负责策略、抽查与解释。人工复核已完成并有赵思嘉署名记录，补充实验也已完成；各成员的具体操作范围仍由本人确认。项目使用 Codex 协助程序、实验和初稿，最终核对由成员负责。结论是流程可追溯，抽查未发现规则执行错误，部分决策稳定，但完整策略仍会变化，效果优势还需更严格验证。下面进入问答。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证据来源：Data-Mining-Group-Project/分工.docx；docs/戴想然_交接清单_1026.md；人工抽查表。数据来源：Lavanya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三分钟问答按需使用，不计入七分钟正文。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正式汇报结束后按需打开。演示默认用已留存结果，避免安装或网络占用七分钟。离线回放从原始 CSV 重算并严格核对；重新调用模型需运行 PowerShell 脚本，提供密钥，并查看新目录中 agent_status.json 的真实完成状态。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证据来源：Data-Mining-Group-Project/README.md；scripts/replay.py；scripts/run_deepseek.ps1。数据来源：Lavanya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三分钟问答按需使用，不计入七分钟正文。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可按问题选择回答，不需要全部念完。ARI=1 是共有完整记录上的一致性，不是填补正确率。固定规则分数高是在不同样本上，不能公平排名。系统是受约束的一次规划工作流，仍有智能体的策略选择，但没有多轮自我优化。人工复核已完成，十二项均判断合理，仅代表该抽查范围。三次补充调用中大小策略排除两次、类别中位数一次；完整计划并非完全稳定。所给材料没有填补真值误差实验，不能将稳定性当作准确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证据来源：Data-Mining-Group-Project/src/agent.py；results/final/common_group_ari.csv；comparison.csv；补充实验_智能体稳定性_后三次_1027.zip。数据来源：Lavanya / lava18，Google Play Store Apps，https://www.kaggle.com/datasets/lava18/google-play-store-apps，CC BY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fc87900234a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277a02f0d4e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f869bf08345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db00f259c4e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8411502aa4a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67112c59c49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6B905D-085A-47ED-ABF3-FDC447F61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18BAC5-9274-4E7A-B63A-6F78B7A747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44877F-7FB4-48B2-829C-BA8902ACE7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809993-C525-468B-8E33-78C7E425F5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6B8874-C345-4747-A06F-00326C234C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3C052D-C0F7-4530-BA1B-FC70ADB78F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6EC3F5-5EA6-4CAE-B356-9700FF4376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6C6E5E-4377-4CA0-9293-CA97F7B85E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EB3373-23FD-43EE-AF49-B01E4F489A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1A2594-ABDA-460E-8E0A-106E32F1FC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c2955e462d4259" /><Relationship Type="http://schemas.openxmlformats.org/officeDocument/2006/relationships/slideLayout" Target="/ppt/slideLayouts/slideLayout1.xml" Id="Rbf8e1a3198fb42f0" /><Relationship Type="http://schemas.openxmlformats.org/officeDocument/2006/relationships/slideLayout" Target="/ppt/slideLayouts/slideLayout2.xml" Id="R9282e67691a24aa3" /><Relationship Type="http://schemas.openxmlformats.org/officeDocument/2006/relationships/slideLayout" Target="/ppt/slideLayouts/slideLayout3.xml" Id="R7f5af0038fe341ab" /><Relationship Type="http://schemas.openxmlformats.org/officeDocument/2006/relationships/slideLayout" Target="/ppt/slideLayouts/slideLayout4.xml" Id="R460fc4e6e2cf47f4" /><Relationship Type="http://schemas.openxmlformats.org/officeDocument/2006/relationships/slideLayout" Target="/ppt/slideLayouts/slideLayout5.xml" Id="R30c58aa064204f12" /><Relationship Type="http://schemas.openxmlformats.org/officeDocument/2006/relationships/slideLayout" Target="/ppt/slideLayouts/slideLayout6.xml" Id="R37663649478e4f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8e1a3198fb42f0"/>
    <p:sldLayoutId xmlns:r="http://schemas.openxmlformats.org/officeDocument/2006/relationships" id="2147483650" r:id="R9282e67691a24aa3"/>
    <p:sldLayoutId xmlns:r="http://schemas.openxmlformats.org/officeDocument/2006/relationships" id="2147483651" r:id="R7f5af0038fe341ab"/>
    <p:sldLayoutId xmlns:r="http://schemas.openxmlformats.org/officeDocument/2006/relationships" id="2147483652" r:id="R460fc4e6e2cf47f4"/>
    <p:sldLayoutId xmlns:r="http://schemas.openxmlformats.org/officeDocument/2006/relationships" id="2147483653" r:id="R30c58aa064204f12"/>
    <p:sldLayoutId xmlns:r="http://schemas.openxmlformats.org/officeDocument/2006/relationships" id="2147483654" r:id="R37663649478e4f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ce5ca230f4990" /><Relationship Type="http://schemas.openxmlformats.org/officeDocument/2006/relationships/notesSlide" Target="/ppt/notesSlides/notesSlide1.xml" Id="Ree1ceacb28b94a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9e68441614c5e" /><Relationship Type="http://schemas.openxmlformats.org/officeDocument/2006/relationships/notesSlide" Target="/ppt/notesSlides/notesSlide2.xml" Id="Rcddd3c6992c149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ed385f3de456e" /><Relationship Type="http://schemas.openxmlformats.org/officeDocument/2006/relationships/notesSlide" Target="/ppt/notesSlides/notesSlide3.xml" Id="R9a7f152cac4648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48db08856452b" /><Relationship Type="http://schemas.openxmlformats.org/officeDocument/2006/relationships/notesSlide" Target="/ppt/notesSlides/notesSlide4.xml" Id="R3de88b5d35ac42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22856b19d14d9b" /><Relationship Type="http://schemas.openxmlformats.org/officeDocument/2006/relationships/notesSlide" Target="/ppt/notesSlides/notesSlide5.xml" Id="R96b4d318cadc45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81d0394ce24d87" /><Relationship Type="http://schemas.openxmlformats.org/officeDocument/2006/relationships/chart" Target="/ppt/slides/charts/chart1.xml" Id="R9da50864861c451f" /><Relationship Type="http://schemas.openxmlformats.org/officeDocument/2006/relationships/notesSlide" Target="/ppt/notesSlides/notesSlide6.xml" Id="R854a81b7abba4e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2e663a3f2475e" /><Relationship Type="http://schemas.openxmlformats.org/officeDocument/2006/relationships/notesSlide" Target="/ppt/notesSlides/notesSlide7.xml" Id="Reea57a57e25046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6d8e489f74121" /><Relationship Type="http://schemas.openxmlformats.org/officeDocument/2006/relationships/notesSlide" Target="/ppt/notesSlides/notesSlide8.xml" Id="Re6e250f630e440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c666c25354416" /><Relationship Type="http://schemas.openxmlformats.org/officeDocument/2006/relationships/notesSlide" Target="/ppt/notesSlides/notesSlide9.xml" Id="R35dc0d14797340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709385d214a3c" /><Relationship Type="http://schemas.openxmlformats.org/officeDocument/2006/relationships/notesSlide" Target="/ppt/notesSlides/notesSlide10.xml" Id="R22f6f11ecc9847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8b23781a74ba8" /><Relationship Type="http://schemas.openxmlformats.org/officeDocument/2006/relationships/notesSlide" Target="/ppt/notesSlides/notesSlide11.xml" Id="R35a554ae416a475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记录数</c:v>
          </c:tx>
          <c:spPr>
            <a:solidFill xmlns:a="http://schemas.openxmlformats.org/drawingml/2006/main">
              <a:srgbClr val="137C83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FA6B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22B4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37C83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最低必要</c:v>
                </c:pt>
                <c:pt idx="1">
                  <c:v>固定规则</c:v>
                </c:pt>
                <c:pt idx="2">
                  <c:v>智能体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7729</c:v>
                </c:pt>
                <c:pt idx="1">
                  <c:v>10357</c:v>
                </c:pt>
                <c:pt idx="2">
                  <c:v>8892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22B4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7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4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21DCD-D5B9-4C77-A15C-82DE8C3D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rPr>
              <a:t>数据仓库与数据挖掘  课程项目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7BA67-94FF-4295-B071-45ECF161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Google Play</a:t>
            </a:r>
          </a:p>
          <a:p xmlns:a="http://schemas.openxmlformats.org/drawingml/2006/main">
            <a:pPr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应用数据质量智能体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4AC28-4DF5-4096-9C33-C40DAD73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9D9D7"/>
                </a:solidFill>
                <a:latin typeface="Microsoft YaHei"/>
                <a:ea typeface="Microsoft YaHei"/>
                <a:cs typeface="Microsoft YaHei"/>
              </a:rPr>
              <a:t>清洗策略比较与应用画像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AB9F7-159E-490E-B630-1A8EEB8A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闫灿宇  周静雯  戴想然  赵思嘉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77A73-7365-4088-AA39-109BAE97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CCD8"/>
                </a:solidFill>
                <a:latin typeface="Microsoft YaHei"/>
                <a:ea typeface="Microsoft YaHei"/>
                <a:cs typeface="Microsoft YaHei"/>
              </a:rPr>
              <a:t>2026年10月30日  汇报初稿</a:t>
            </a:r>
          </a:p>
        </p:txBody>
      </p:sp>
    </p:spTree>
    <p:extLst>
      <p:ext uri="{BB962C8B-B14F-4D97-AF65-F5344CB8AC3E}">
        <p14:creationId xmlns:p14="http://schemas.microsoft.com/office/powerpoint/2010/main" val="1382125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DDC40-7BEC-46B4-9775-4766BA64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数据与四类质量问题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157EF-034C-4038-90BB-D122AEC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02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624EA-AD79-4F6B-9A7A-8AA953ED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10,841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417AF-749B-463A-8186-FE8FA0DC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条历史采集记录，13 个字段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F550E-6F67-41DA-A78E-367FE97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评分、评论数、大小</a:t>
            </a:r>
          </a:p>
          <a:p xmlns:a="http://schemas.openxmlformats.org/drawingml/2006/main">
            <a: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安装量下界、价格用于聚类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69E3A-98D7-4D04-A076-1279E1ACC7FC}"/>
              </a:ext>
            </a:extLst>
          </p:cNvPr>
          <p:cNvGraphicFramePr/>
          <p:nvPr/>
        </p:nvGraphicFramePr>
        <p:xfrm>
          <a:off xmlns:a="http://schemas.openxmlformats.org/drawingml/2006/main" x="5429250" y="1524000"/>
          <a:ext xmlns:a="http://schemas.openxmlformats.org/drawingml/2006/main" cx="60960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81500"/>
              </a:tblGrid>
              <a:tr h="733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问题类型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原始证据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评分缺失 1,474 条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完全重复多余记录 483 条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条记录多字段错位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格式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 / k、安装量 +、美元符号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D59B5-6219-4394-85FC-895CBE58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大小随设备变化的 1,695 条记录属于特殊状态，未知大小保留原始标记</a:t>
            </a:r>
          </a:p>
        </p:txBody>
      </p:sp>
    </p:spTree>
    <p:extLst>
      <p:ext uri="{BB962C8B-B14F-4D97-AF65-F5344CB8AC3E}">
        <p14:creationId xmlns:p14="http://schemas.microsoft.com/office/powerpoint/2010/main" val="1086886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F765-1EB3-4294-8009-FFDB95F9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智能体的实际工作流程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5B418-A60E-4C7F-9E8D-D4077FF0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03 / 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D465E-DD9A-4D72-9BFD-10122057772C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77250"/>
              </a:tblGrid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实际操作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质量检查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统计缺失、重复、异常与格式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模型规划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读取统计和少量样例，选择策略并解释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本地校验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只接受白名单 JSON，不执行模型代码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工具执行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清洗、保留原值、记录变更并检查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 分群比较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 K-means，输出指标与画像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F82D7-6AB4-4B86-B1C5-91D52159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主实验 1 次调用，另追加 3 次稳定性实验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C5B19-DFBB-434C-B17D-5E211DC2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当前未实现清洗后再次调用模型迭代修改方案</a:t>
            </a:r>
          </a:p>
        </p:txBody>
      </p:sp>
    </p:spTree>
    <p:extLst>
      <p:ext uri="{BB962C8B-B14F-4D97-AF65-F5344CB8AC3E}">
        <p14:creationId xmlns:p14="http://schemas.microsoft.com/office/powerpoint/2010/main" val="977252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0DDE6-85AB-4E97-A419-F35A316A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三组清洗策略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38056-50FC-46DD-8B6F-AFA00A34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04 / 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E32AB-EC5D-45C0-BCEF-AF013383451E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762250"/>
                <a:gridCol w="2762250"/>
                <a:gridCol w="3238500"/>
              </a:tblGrid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处理项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最低必要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固定规则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本次模型选择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完全重复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去重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去重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评分缺失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排除聚类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全局中位数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排除聚类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大小未知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排除聚类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全局中位数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同类别中位数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5928E-1922-4F7B-AB2E-867EBC9A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三组共同规则：严格解析单位，隔离 1 条错位记录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7885F-6280-4BAC-85E8-CC82CFA0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排除聚类仍保留档案。类别填补至少需 20 条有效观测，否则回退全局</a:t>
            </a:r>
          </a:p>
        </p:txBody>
      </p:sp>
    </p:spTree>
    <p:extLst>
      <p:ext uri="{BB962C8B-B14F-4D97-AF65-F5344CB8AC3E}">
        <p14:creationId xmlns:p14="http://schemas.microsoft.com/office/powerpoint/2010/main" val="1030900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7CCFD-1A82-4DFD-B651-B42AA2C1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聚类与比较口径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0E144-5698-4516-A7C6-38D44805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05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C1D7C-C95F-4E22-8070-BEA0B91B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五项特征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79049-DDFB-4142-BECC-ACC824BD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评分  评论数  大小</a:t>
            </a:r>
          </a:p>
          <a:p xmlns:a="http://schemas.openxmlformats.org/drawingml/2006/main">
            <a:pPr>
              <a:buNone/>
              <a:def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安装量下界  价格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880A2-EF56-4EC2-B4B0-C67B00FB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除评分外做 log1p</a:t>
            </a:r>
          </a:p>
          <a:p xmlns:a="http://schemas.openxmlformats.org/drawingml/2006/main">
            <a: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三组共用 StandardScaler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8A7A2-5D28-4383-896B-EEC6DB8C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两种比较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5A70D-BF01-4EAC-9350-38422779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各组原生样本</a:t>
            </a:r>
          </a:p>
          <a:p xmlns:a="http://schemas.openxmlformats.org/drawingml/2006/main">
            <a: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候选 k=2–6，最终均为 3 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F5CE9-CF26-4539-81DF-73F0B0E2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共同完整记录</a:t>
            </a:r>
          </a:p>
          <a:p xmlns:a="http://schemas.openxmlformats.org/drawingml/2006/main">
            <a:pPr>
              <a:buNone/>
              <a:def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7,424 条，预设 k=4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8E410-703B-42C5-9105-B666481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种子 42，n_init=10；轮廓系数使用各组固定抽样 1,500 条记录</a:t>
            </a:r>
          </a:p>
        </p:txBody>
      </p:sp>
    </p:spTree>
    <p:extLst>
      <p:ext uri="{BB962C8B-B14F-4D97-AF65-F5344CB8AC3E}">
        <p14:creationId xmlns:p14="http://schemas.microsoft.com/office/powerpoint/2010/main" val="1360003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46900-A4F1-4DAC-91AF-827144ED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清洗策略改变了入模记录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283BC-D447-4A06-9E6C-E9ACC6F0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06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7342F-9D46-480B-9F0B-A167DFE5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进入聚类的记录数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316E5CA-7034-41D7-B967-091DE9867A72}"/>
              </a:ext>
            </a:extLst>
          </p:cNvPr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6286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a50864861c451f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5714E-F105-4E60-B931-C99DB3428F70}"/>
              </a:ext>
            </a:extLst>
          </p:cNvPr>
          <p:cNvGraphicFramePr/>
          <p:nvPr/>
        </p:nvGraphicFramePr>
        <p:xfrm>
          <a:off xmlns:a="http://schemas.openxmlformats.org/drawingml/2006/main" x="7429500" y="1905000"/>
          <a:ext xmlns:a="http://schemas.openxmlformats.org/drawingml/2006/main" cx="40957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809750"/>
              </a:tblGrid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组别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轮廓系数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最低必要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0.3483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固定规则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0.4178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0.3665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73322-1598-4F21-95D3-0DCD55D1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rPr>
              <a:t>三组样本构成不同，轮廓系数不能直接作为优劣排名</a:t>
            </a:r>
          </a:p>
        </p:txBody>
      </p:sp>
    </p:spTree>
    <p:extLst>
      <p:ext uri="{BB962C8B-B14F-4D97-AF65-F5344CB8AC3E}">
        <p14:creationId xmlns:p14="http://schemas.microsoft.com/office/powerpoint/2010/main" val="1981952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F1DF0-1BA0-4E71-BADD-7EEDC744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共同记录检查与应用画像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957A2-FDA7-410F-933C-57D52CFD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07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2A03F-E45E-4C53-B923-76262A97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共同记录 ARI=1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C6936-62D4-421A-B8D6-A6F90B2A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特征完全相同，支持处理一致性</a:t>
            </a:r>
          </a:p>
          <a:p xmlns:a="http://schemas.openxmlformats.org/drawingml/2006/main">
            <a:pPr>
              <a:buNone/>
              <a:def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未验证缺失值填补准确性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EE50D-9A9B-49A2-990A-C26CEFFFDF3A}"/>
              </a:ext>
            </a:extLst>
          </p:cNvPr>
          <p:cNvGraphicFramePr/>
          <p:nvPr/>
        </p:nvGraphicFramePr>
        <p:xfrm>
          <a:off xmlns:a="http://schemas.openxmlformats.org/drawingml/2006/main" x="619125" y="2809875"/>
          <a:ext xmlns:a="http://schemas.openxmlformats.org/drawingml/2006/main" cx="10953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524000"/>
                <a:gridCol w="2238375"/>
                <a:gridCol w="2238375"/>
                <a:gridCol w="2286000"/>
              </a:tblGrid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智能体组画像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记录数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评论中位数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安装量下界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价格中位数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规模相对较大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4,712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60,695.5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 万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美元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规模相对较小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3,693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122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万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美元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付费特征突出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487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291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5,000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3.99 美元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AE9AA-F522-487F-80D2-67828D75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以上来自智能体组 k=3；只描述历史记录，不能解释应用走红的原因</a:t>
            </a:r>
          </a:p>
        </p:txBody>
      </p:sp>
    </p:spTree>
    <p:extLst>
      <p:ext uri="{BB962C8B-B14F-4D97-AF65-F5344CB8AC3E}">
        <p14:creationId xmlns:p14="http://schemas.microsoft.com/office/powerpoint/2010/main" val="1793971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40691-B726-4318-8A1A-6A23D7BE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人工复核与稳定性补充实验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B46FF-FE94-4A3C-93EF-7F67D79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08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FC6AD-8A60-4771-B869-F0D006E9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4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4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4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4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4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4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4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4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人工复核 12/12 合理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28EA7-DF21-499B-8CF6-08AD7A79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四类问题，各抽 3 条，核对三组处理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13BC5-1D36-4F2C-A992-1B6A6F41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7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47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47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47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47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47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47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47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475" b="1">
                <a:solidFill>
                  <a:srgbClr val="B96A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新增 3 次真实调用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0E38E-A0E9-4C74-8957-7C60445F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78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去重与评分策略均为 3/3 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D2544-B843-41EE-95F7-69CA12E7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部分决策一致，完整计划仍有波动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F3D7C-7914-4777-BADB-C6B11A9B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12 项抽查不代表全表正确率；重复调用不验证填补真值误差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D1055-6C48-46F8-8152-99FCB2DAB9F9}"/>
              </a:ext>
            </a:extLst>
          </p:cNvPr>
          <p:cNvGraphicFramePr/>
          <p:nvPr/>
        </p:nvGraphicFramePr>
        <p:xfrm>
          <a:off xmlns:a="http://schemas.openxmlformats.org/drawingml/2006/main" x="619125" y="2952750"/>
          <a:ext xmlns:a="http://schemas.openxmlformats.org/drawingml/2006/main" cx="1095375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238500"/>
                <a:gridCol w="2095500"/>
                <a:gridCol w="1143000"/>
                <a:gridCol w="2476500"/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补充运行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大小策略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入模记录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轮廓系数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1、2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排除未知大小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7,424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0.3441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类别中位数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8,892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0.3665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4891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D3886-23E0-4908-AEE6-6DA31AE0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实际贡献与结论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22E3F-DD30-4ECB-9F27-CED6AEA1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09 / 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112AB-E600-416A-A480-E3DCA253862D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9144000"/>
              </a:tblGrid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分工与待确认的实际完成范围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T w="9525">
                      <a:solidFill>
                        <a:srgbClr val="D8E2E7"/>
                      </a:solidFill>
                      <a:prstDash val="solid"/>
                    </a:lnT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122B4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闫灿宇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范围确认与结果审阅，具体意见与排练待确认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周静雯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数据说明与材料汇总，作者归属与本人修改待确认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戴想然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技术实现、主实验与补充实验，个人操作范围待确认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赵思嘉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D8E2E7"/>
                      </a:solidFill>
                      <a:prstDash val="solid"/>
                    </a:lnL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22B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策略与抽查解释，12 项复核已完成，有署名表和逐条说明</a:t>
                      </a:r>
                    </a:p>
                  </a:txBody>
                  <a:tcPr marL="142875" marR="142875" marT="114300" marB="114300" anchor="ctr">
                    <a:lnR w="9525">
                      <a:solidFill>
                        <a:srgbClr val="D8E2E7"/>
                      </a:solidFill>
                      <a:prstDash val="solid"/>
                    </a:lnR>
                    <a:lnB w="9525">
                      <a:solidFill>
                        <a:srgbClr val="D8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87451-ADDF-40F0-B325-9175504C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流程可追溯，抽查合理，完整策略仍会变化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57B1F-8121-44BC-83B6-4EA7EFEF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Codex 协助程序、实验与初稿；成员据实确认贡献并完成最终核对</a:t>
            </a:r>
          </a:p>
        </p:txBody>
      </p:sp>
    </p:spTree>
    <p:extLst>
      <p:ext uri="{BB962C8B-B14F-4D97-AF65-F5344CB8AC3E}">
        <p14:creationId xmlns:p14="http://schemas.microsoft.com/office/powerpoint/2010/main" val="241502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C7E8C-35CF-4F30-84C6-DCBA4793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备用页  运行与现场演示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097B2-FAD1-49EB-B393-3D70FE07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问答备用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B4F4F-EB36-4C7C-9436-61784C03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在项目根目录，用已装好依赖的 Python 3.12 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0F2DC-4616-4DB6-88F3-FCAB6C9E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离线复算已有计划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983BC-CA08-4BC9-86F3-AE00767A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.\.venv\Scripts\python.exe run.py --replay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9697B-702F-412D-9AEA-4A88AE99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成功输出  verified   26 份 CSV   8 份 JSON   新调用 0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D60A3-D8E3-4D30-9B00-D41F0835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重新调用模型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94664-B1FA-4003-BC23-BEB06168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powershell.exe -NoProfile -ExecutionPolicy Bypass `</a:t>
            </a:r>
          </a:p>
          <a:p xmlns:a="http://schemas.openxmlformats.org/drawingml/2006/main">
            <a: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-File .\scripts\run_deepseek.ps1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BD015-A9C9-49BB-B46D-74F953EB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新调用可能收费，查看终端给出的新结果目录与 agent_status.json</a:t>
            </a:r>
          </a:p>
        </p:txBody>
      </p:sp>
    </p:spTree>
    <p:extLst>
      <p:ext uri="{BB962C8B-B14F-4D97-AF65-F5344CB8AC3E}">
        <p14:creationId xmlns:p14="http://schemas.microsoft.com/office/powerpoint/2010/main" val="94207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BAC02-D514-4F3E-A625-0D38CE98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备用页  常见追问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E2496-63F2-4478-B3E9-114455AF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72"/>
                </a:solidFill>
                <a:latin typeface="Microsoft YaHei"/>
                <a:ea typeface="Microsoft YaHei"/>
                <a:cs typeface="Microsoft YaHei"/>
              </a:rPr>
              <a:t>问答备用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A2BEB-CA3F-410C-882C-E2B5AC15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ARI=1 是正确率吗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A695F-DEC5-4CC7-ABA5-E42F413E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共同完整记录的特征一致，分群一致可预期</a:t>
            </a:r>
          </a:p>
          <a:p xmlns:a="http://schemas.openxmlformats.org/drawingml/2006/main">
            <a: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它没有检验被填补记录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197F6-8A7A-47E0-A60E-5D02F478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固定规则分数最高，说明什么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4EE50-5282-4313-8848-310F30ED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在各自不同样本上，固定规则的轮廓系数更高</a:t>
            </a:r>
          </a:p>
          <a:p xmlns:a="http://schemas.openxmlformats.org/drawingml/2006/main">
            <a: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目前不能形成公平的处理质量排名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F283D-05EF-4AAB-803E-49AEAB02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7C83"/>
                </a:solidFill>
                <a:latin typeface="Microsoft YaHei"/>
                <a:ea typeface="Microsoft YaHei"/>
                <a:cs typeface="Microsoft YaHei"/>
              </a:rPr>
              <a:t>已完成什么，下一步补什么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C6096-9902-42F0-A4AE-C1D4E55C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已完成人工复核与多次决策检查</a:t>
            </a:r>
          </a:p>
          <a:p xmlns:a="http://schemas.openxmlformats.org/drawingml/2006/main">
            <a:pPr>
              <a:buNone/>
              <a:def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B42"/>
                </a:solidFill>
                <a:latin typeface="Microsoft YaHei"/>
                <a:ea typeface="Microsoft YaHei"/>
                <a:cs typeface="Microsoft YaHei"/>
              </a:rPr>
              <a:t>后续检验填补真值误差，并复核理由与策略的矛盾</a:t>
            </a:r>
          </a:p>
        </p:txBody>
      </p:sp>
    </p:spTree>
    <p:extLst>
      <p:ext uri="{BB962C8B-B14F-4D97-AF65-F5344CB8AC3E}">
        <p14:creationId xmlns:p14="http://schemas.microsoft.com/office/powerpoint/2010/main" val="1639787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2026-10-30T03:43:52.5170000Z</dcterms:created>
  <dcterms:modified xsi:type="dcterms:W3CDTF">2026-10-30T03:43:52.5170000Z</dcterms:modified>
</coreProperties>
</file>